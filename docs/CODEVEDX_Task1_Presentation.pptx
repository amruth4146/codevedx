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60A5FA"/>
                </a:solidFill>
              </a:defRPr>
            </a:pPr>
            <a:r>
              <a:t>CODEVEDX AI/ML INTERNSHIP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Task 1: Utility Usage Prediction Tool</a:t>
            </a:r>
          </a:p>
          <a:p>
            <a:pPr>
              <a:spcAft>
                <a:spcPts val="2800"/>
              </a:spcAft>
              <a:defRPr sz="1500">
                <a:solidFill>
                  <a:srgbClr val="CBD5E1"/>
                </a:solidFill>
              </a:defRPr>
            </a:pPr>
            <a:r>
              <a:t>Production-grade, menu-driven CLI application for daily electricity consumption forecasting, statistical trend analysis, and model lifecycle persistence.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Candidate Project Submission  |  Python 3.11+  |  Scikit-Learn  |  Pandas  |  NumPy  |  Pytest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303520"/>
            <a:ext cx="23774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✔ 74 Tests Passed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5303520"/>
            <a:ext cx="23774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✔ Zero Future Leakage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5303520"/>
            <a:ext cx="23774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✔ Pure Console CLI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5303520"/>
            <a:ext cx="2377440" cy="502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✔ Audit Result: PASS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CODEVEDX AI/ML INTERNSHIP — TASK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Executive Summary: Foundational AI/ML Utility Tool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2563EB"/>
                </a:solidFill>
              </a:defRPr>
            </a:pPr>
            <a:r>
              <a:t>Defensive Data Pipeline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Robust ISO-8601 validation, non-negative bounds checking, and atomic CSV writes prevent data loss or silent corruption.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10312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16A34A"/>
                </a:solidFill>
              </a:defRPr>
            </a:pPr>
            <a:r>
              <a:t>Interpretable Baseline ML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Scikit-learn LinearRegression models consumption over day indices using strict chronological 80/20 train/test splits.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212080" cy="2103120"/>
          </a:xfrm>
          <a:prstGeom prst="roundRect">
            <a:avLst/>
          </a:prstGeom>
          <a:solidFill>
            <a:srgbClr val="FAF5FF"/>
          </a:solidFill>
          <a:ln w="1524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9333EA"/>
                </a:solidFill>
              </a:defRPr>
            </a:pPr>
            <a:r>
              <a:t>Fail-Safe Interactive Console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8-option interactive CLI featuring error isolation, confirmation prompts, and safe traps for Ctrl+C and EOF signals.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5212080" cy="210312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800"/>
              </a:spcAft>
              <a:defRPr sz="1400" b="1">
                <a:solidFill>
                  <a:srgbClr val="EA580C"/>
                </a:solidFill>
              </a:defRPr>
            </a:pPr>
            <a:r>
              <a:t>Rigorous Test Verification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74 automated tests covering data I/O, statistical logic, ML inference, and smoke CLI pipelines with 100% pass 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106984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274320"/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Key Project Metrics:  732 Historical Daily Records (2023–2025)  |  585 Train / 147 Test Split  |  MAE: 4.78 kWh  |  74 Pytest Tests Passed (6.66s)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CODEVEDX AI/ML INTERNSHIP — TASK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Problem Statement &amp; Internship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The Utility Forecasting Challenge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• Energy Volatility: 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  Households and facility managers face fluctuating power tariffs and need baseline tools to monitor consumption drifts.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• Data Hygiene Deficits: 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  Real-world utility logs often contain corrupted records, negative consumption spikes, duplicate dates, or missing timestamps.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• Flawed ML Methodologies: 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  Beginner ML workflows frequently use random shuffling on time-series data, introducing future-data leakage and false confidence.</a:t>
            </a:r>
          </a:p>
          <a:p>
            <a:pPr>
              <a:spcAft>
                <a:spcPts val="200"/>
              </a:spcAft>
              <a:defRPr b="1" sz="1100">
                <a:solidFill>
                  <a:srgbClr val="0F172A"/>
                </a:solidFill>
              </a:defRPr>
            </a:pPr>
            <a:r>
              <a:t>• Fragile User Interfaces: 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  Console tools commonly crash on unexpected user inputs (blank entries, alphabet strings, interrupts), frustrating non-technical operators.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Official Internship Objectives</a:t>
            </a:r>
          </a:p>
          <a:p>
            <a:pPr>
              <a:spcAft>
                <a:spcPts val="200"/>
              </a:spcAft>
              <a:defRPr b="1" sz="1100">
                <a:solidFill>
                  <a:srgbClr val="2563EB"/>
                </a:solidFill>
              </a:defRPr>
            </a:pPr>
            <a:r>
              <a:t>✔ Production Standards: 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  Modular architecture, clean PEP 8 compliance, full type annotations, and explicit separation of concerns.</a:t>
            </a:r>
          </a:p>
          <a:p>
            <a:pPr>
              <a:spcAft>
                <a:spcPts val="200"/>
              </a:spcAft>
              <a:defRPr b="1" sz="1100">
                <a:solidFill>
                  <a:srgbClr val="2563EB"/>
                </a:solidFill>
              </a:defRPr>
            </a:pPr>
            <a:r>
              <a:t>✔ CSV Lifecycle Management: 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  Create, validate, append, update in-place, and view daily usage records in data/usage_data.csv without data loss.</a:t>
            </a:r>
          </a:p>
          <a:p>
            <a:pPr>
              <a:spcAft>
                <a:spcPts val="200"/>
              </a:spcAft>
              <a:defRPr b="1" sz="1100">
                <a:solidFill>
                  <a:srgbClr val="2563EB"/>
                </a:solidFill>
              </a:defRPr>
            </a:pPr>
            <a:r>
              <a:t>✔ NumPy &amp; Pandas Analytics: 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  Calculate total consumption, daily mean, extremes, and rolling 7-day windows with clear kWh unit definitions.</a:t>
            </a:r>
          </a:p>
          <a:p>
            <a:pPr>
              <a:spcAft>
                <a:spcPts val="200"/>
              </a:spcAft>
              <a:defRPr b="1" sz="1100">
                <a:solidFill>
                  <a:srgbClr val="2563EB"/>
                </a:solidFill>
              </a:defRPr>
            </a:pPr>
            <a:r>
              <a:t>✔ Leakage-Free ML Modeling: 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  Train a baseline LinearRegression model strictly on past records and evaluate on future observations using MAE, RMSE, and R2.</a:t>
            </a:r>
          </a:p>
          <a:p>
            <a:pPr>
              <a:spcAft>
                <a:spcPts val="200"/>
              </a:spcAft>
              <a:defRPr b="1" sz="1100">
                <a:solidFill>
                  <a:srgbClr val="2563EB"/>
                </a:solidFill>
              </a:defRPr>
            </a:pPr>
            <a:r>
              <a:t>✔ Defensive Error Trapping: 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  Prevent terminal termination on invalid inputs, malformed dates, NaN/Inf values, or Ctrl+C signals.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CODEVEDX AI/ML INTERNSHIP — TASK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Technology Stack &amp; Engineering Environment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200"/>
              </a:spcAft>
              <a:defRPr sz="1300" b="1">
                <a:solidFill>
                  <a:srgbClr val="2563EB"/>
                </a:solidFill>
              </a:defRPr>
            </a:pPr>
            <a:r>
              <a:t>🐍  Python 3.11+</a:t>
            </a:r>
          </a:p>
          <a:p>
            <a:pPr>
              <a:spcAft>
                <a:spcPts val="800"/>
              </a:spcAft>
              <a:defRPr sz="950" b="1">
                <a:solidFill>
                  <a:srgbClr val="64748B"/>
                </a:solidFill>
              </a:defRPr>
            </a:pPr>
            <a:r>
              <a:t>Core Language Runtime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Type hints, dataclasses, pattern matching, robust pathlib integration, and deterministic memory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200"/>
              </a:spcAft>
              <a:defRPr sz="1300" b="1">
                <a:solidFill>
                  <a:srgbClr val="2563EB"/>
                </a:solidFill>
              </a:defRPr>
            </a:pPr>
            <a:r>
              <a:t>🐼  Pandas &gt;= 2.0.0</a:t>
            </a:r>
          </a:p>
          <a:p>
            <a:pPr>
              <a:spcAft>
                <a:spcPts val="800"/>
              </a:spcAft>
              <a:defRPr sz="950" b="1">
                <a:solidFill>
                  <a:srgbClr val="64748B"/>
                </a:solidFill>
              </a:defRPr>
            </a:pPr>
            <a:r>
              <a:t>Data Processing &amp; I/O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Chronological time indexing, atomic CSV serialization, duplicate filtering, and DataFrame schema enforcement.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200"/>
              </a:spcAft>
              <a:defRPr sz="1300" b="1">
                <a:solidFill>
                  <a:srgbClr val="2563EB"/>
                </a:solidFill>
              </a:defRPr>
            </a:pPr>
            <a:r>
              <a:t>🔢  NumPy &gt;= 1.24.0</a:t>
            </a:r>
          </a:p>
          <a:p>
            <a:pPr>
              <a:spcAft>
                <a:spcPts val="800"/>
              </a:spcAft>
              <a:defRPr sz="950" b="1">
                <a:solidFill>
                  <a:srgbClr val="64748B"/>
                </a:solidFill>
              </a:defRPr>
            </a:pPr>
            <a:r>
              <a:t>Vectorized Mathematics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High-speed array transformations, standard deviations, RMSE square-root calculations, and NaN filtering.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200"/>
              </a:spcAft>
              <a:defRPr sz="1300" b="1">
                <a:solidFill>
                  <a:srgbClr val="2563EB"/>
                </a:solidFill>
              </a:defRPr>
            </a:pPr>
            <a:r>
              <a:t>⚙️  Scikit-Learn &gt;= 1.3.0</a:t>
            </a:r>
          </a:p>
          <a:p>
            <a:pPr>
              <a:spcAft>
                <a:spcPts val="800"/>
              </a:spcAft>
              <a:defRPr sz="950" b="1">
                <a:solidFill>
                  <a:srgbClr val="64748B"/>
                </a:solidFill>
              </a:defRPr>
            </a:pPr>
            <a:r>
              <a:t>Machine Learning Core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Ordinary Least Squares (OLS) LinearRegression, chronological evaluation metrics (MAE, RMSE, R2).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84048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200"/>
              </a:spcAft>
              <a:defRPr sz="1300" b="1">
                <a:solidFill>
                  <a:srgbClr val="2563EB"/>
                </a:solidFill>
              </a:defRPr>
            </a:pPr>
            <a:r>
              <a:t>💾  Joblib &gt;= 1.3.0</a:t>
            </a:r>
          </a:p>
          <a:p>
            <a:pPr>
              <a:spcAft>
                <a:spcPts val="800"/>
              </a:spcAft>
              <a:defRPr sz="950" b="1">
                <a:solidFill>
                  <a:srgbClr val="64748B"/>
                </a:solidFill>
              </a:defRPr>
            </a:pPr>
            <a:r>
              <a:t>Model Artifact Persistence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Atomic serialization of trained estimators, reference date anchors, training hashes, and evaluation logs.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84048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200"/>
              </a:spcAft>
              <a:defRPr sz="1300" b="1">
                <a:solidFill>
                  <a:srgbClr val="2563EB"/>
                </a:solidFill>
              </a:defRPr>
            </a:pPr>
            <a:r>
              <a:t>🧪  Pytest &gt;= 7.4.0</a:t>
            </a:r>
          </a:p>
          <a:p>
            <a:pPr>
              <a:spcAft>
                <a:spcPts val="800"/>
              </a:spcAft>
              <a:defRPr sz="950" b="1">
                <a:solidFill>
                  <a:srgbClr val="64748B"/>
                </a:solidFill>
              </a:defRPr>
            </a:pPr>
            <a:r>
              <a:t>Verification &amp; Test Harness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74 automated unit/integration/smoke tests with tmp_path synthetic fixtures to protect user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698480" cy="7772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27432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Environment Specifications: Windows 11 OS | Windows PowerShell Core | Zero External Cloud APIs | Zero GUI/Web Bloat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CODEVEDX AI/ML INTERNSHIP — TASK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System Architecture: Decoupled Modular Design</a:t>
            </a:r>
          </a:p>
        </p:txBody>
      </p:sp>
      <p:pic>
        <p:nvPicPr>
          <p:cNvPr id="4" name="Picture 3" descr="fig2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362102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371600"/>
            <a:ext cx="38404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Architectural Pillars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• Layer 1: CLI Dispatcher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main.py handles user loops, choice routing, and terminal formatting without embedding business logic.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• Layer 2: Data Manager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src/data_manager.py manages CSV persistence, ISO regex, duplicate guards, and synthetic demo generators.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• Layer 3: Analytics &amp; Utils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src/utils.py computes NumPy statistics, formats kWh units, and executes safe reprompting.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• Layer 4: ML Predictor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src/predictor.py executes chronological splits, OLS regression fitting, metric evaluation, and joblib storage.</a:t>
            </a:r>
          </a:p>
          <a:p>
            <a:pPr>
              <a:defRPr sz="1050" b="1">
                <a:solidFill>
                  <a:srgbClr val="0F172A"/>
                </a:solidFill>
              </a:defRPr>
            </a:pPr>
            <a:r>
              <a:t>• Layer 5: Safe Storage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data/usage_data.csv and models/electricity_model.joblib ensure verifiable persistence.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CODEVEDX AI/ML INTERNSHIP — TASK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Dataset Schema, Validation &amp; Preprocessing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Data Schema &amp; Integrity Rules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✔ CSV Schema: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Two core columns: date (ISO-8601 YYYY-MM-DD) and usage_kwh (finite non-negative float).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✔ Calendar Validation: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Strict datetime.strptime checks reject impossible dates like 2023-02-29 or 2024-04-31 while accepting true leap years.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✔ Domain Value Bounds: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Requires usage_kwh &gt;= 0.0; blocks negative consumption, NaN, +Inf, -Inf, and non-numeric characters.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✔ Duplicate Prevention: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Adding an existing date raises a clear conflict warning and directs the user to Option 3 (Update).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✔ Atomic File Writes: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Ensures DataFrame is sorted chronologically before write-out to eliminate scrambled temporal sequences.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200"/>
              </a:spcAft>
              <a:defRPr sz="1500" b="1">
                <a:solidFill>
                  <a:srgbClr val="2563EB"/>
                </a:solidFill>
              </a:defRPr>
            </a:pPr>
            <a:r>
              <a:t>Historical Dataset Summary (data/usage_data.csv)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Total Historical Observations:</a:t>
            </a:r>
          </a:p>
          <a:p>
            <a:pPr>
              <a:spcAft>
                <a:spcPts val="600"/>
              </a:spcAft>
              <a:defRPr sz="1050">
                <a:solidFill>
                  <a:srgbClr val="2563EB"/>
                </a:solidFill>
              </a:defRPr>
            </a:pPr>
            <a:r>
              <a:t>  732 consecutive days (2023-01-01 to 2025-01-01)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Cumulative Energy Consumed:</a:t>
            </a:r>
          </a:p>
          <a:p>
            <a:pPr>
              <a:spcAft>
                <a:spcPts val="600"/>
              </a:spcAft>
              <a:defRPr sz="1050">
                <a:solidFill>
                  <a:srgbClr val="2563EB"/>
                </a:solidFill>
              </a:defRPr>
            </a:pPr>
            <a:r>
              <a:t>  19,776.62 kWh (~19.78 MWh)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Mean Daily Consumption:</a:t>
            </a:r>
          </a:p>
          <a:p>
            <a:pPr>
              <a:spcAft>
                <a:spcPts val="600"/>
              </a:spcAft>
              <a:defRPr sz="1050">
                <a:solidFill>
                  <a:srgbClr val="2563EB"/>
                </a:solidFill>
              </a:defRPr>
            </a:pPr>
            <a:r>
              <a:t>  27.02 kWh / day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Minimum Daily Usage:</a:t>
            </a:r>
          </a:p>
          <a:p>
            <a:pPr>
              <a:spcAft>
                <a:spcPts val="600"/>
              </a:spcAft>
              <a:defRPr sz="1050">
                <a:solidFill>
                  <a:srgbClr val="2563EB"/>
                </a:solidFill>
              </a:defRPr>
            </a:pPr>
            <a:r>
              <a:t>  15.12 kWh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Maximum Daily Usage:</a:t>
            </a:r>
          </a:p>
          <a:p>
            <a:pPr>
              <a:spcAft>
                <a:spcPts val="600"/>
              </a:spcAft>
              <a:defRPr sz="1050">
                <a:solidFill>
                  <a:srgbClr val="2563EB"/>
                </a:solidFill>
              </a:defRPr>
            </a:pPr>
            <a:r>
              <a:t>  43.91 kWh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Trailing 7-Day Total:</a:t>
            </a:r>
          </a:p>
          <a:p>
            <a:pPr>
              <a:spcAft>
                <a:spcPts val="600"/>
              </a:spcAft>
              <a:defRPr sz="1050">
                <a:solidFill>
                  <a:srgbClr val="2563EB"/>
                </a:solidFill>
              </a:defRPr>
            </a:pPr>
            <a:r>
              <a:t>  171.32 kWh (24.47 kWh / day)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Feature Engineering:</a:t>
            </a:r>
          </a:p>
          <a:p>
            <a:pPr>
              <a:spcAft>
                <a:spcPts val="600"/>
              </a:spcAft>
              <a:defRPr sz="1050">
                <a:solidFill>
                  <a:srgbClr val="2563EB"/>
                </a:solidFill>
              </a:defRPr>
            </a:pPr>
            <a:r>
              <a:t>  Derived day_index: Integer elapsed days from anchor t0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CODEVEDX AI/ML INTERNSHIP — TASK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Machine Learning Workflow &amp; Chronological Splitting</a:t>
            </a:r>
          </a:p>
        </p:txBody>
      </p:sp>
      <p:pic>
        <p:nvPicPr>
          <p:cNvPr id="4" name="Picture 3" descr="fig3_workflow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362102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371600"/>
            <a:ext cx="38404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Zero Data-Leakage Principle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The Pitfall of Random Shuffles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  Standard random splits (train_test_split(shuffle=True)) mix future dates into the training set, leaking future trend info into past predictions.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Strict Chronological Partition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  Our pipeline assigns the first 80% (585 days) to training and the remaining 20% (147 days) to forward test evaluation.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Realistic Forecasting Test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  The model is evaluated exclusively on how accurately it predicts unseen forward observations.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Reproducible Metrics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</a:defRPr>
            </a:pPr>
            <a:r>
              <a:t>  Metrics reflect true operational generalization rather than artificial in-sample overfit.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CODEVEDX AI/ML INTERNSHIP — TASK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Actual Model Evaluation Results &amp; Empirical Formula</a:t>
            </a:r>
          </a:p>
        </p:txBody>
      </p:sp>
      <p:pic>
        <p:nvPicPr>
          <p:cNvPr id="4" name="Picture 3" descr="fig1_trend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400800" cy="3520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06640" y="1371600"/>
            <a:ext cx="402336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t>Fitted OLS Formulation</a:t>
            </a:r>
          </a:p>
          <a:p>
            <a:pPr>
              <a:spcAft>
                <a:spcPts val="1000"/>
              </a:spcAft>
              <a:defRPr sz="1100" b="1">
                <a:solidFill>
                  <a:srgbClr val="DC2626"/>
                </a:solidFill>
              </a:defRPr>
            </a:pPr>
            <a:r>
              <a:t>usage_kwh = 23.2605 + 0.0095197 × day_index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Base Intercept (t0 = 2023-01-01):</a:t>
            </a:r>
          </a:p>
          <a:p>
            <a:pPr>
              <a:spcAft>
                <a:spcPts val="400"/>
              </a:spcAft>
              <a:defRPr sz="1000">
                <a:solidFill>
                  <a:srgbClr val="2563EB"/>
                </a:solidFill>
              </a:defRPr>
            </a:pPr>
            <a:r>
              <a:t>  23.2605 kWh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Drift Slope:</a:t>
            </a:r>
          </a:p>
          <a:p>
            <a:pPr>
              <a:spcAft>
                <a:spcPts val="400"/>
              </a:spcAft>
              <a:defRPr sz="1000">
                <a:solidFill>
                  <a:srgbClr val="2563EB"/>
                </a:solidFill>
              </a:defRPr>
            </a:pPr>
            <a:r>
              <a:t>  +0.0095 kWh / day (~+0.29 kWh/month)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Mean Absolute Error (MAE):</a:t>
            </a:r>
          </a:p>
          <a:p>
            <a:pPr>
              <a:spcAft>
                <a:spcPts val="400"/>
              </a:spcAft>
              <a:defRPr sz="1000">
                <a:solidFill>
                  <a:srgbClr val="2563EB"/>
                </a:solidFill>
              </a:defRPr>
            </a:pPr>
            <a:r>
              <a:t>  4.78 kWh (Average error on 147 test days)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Root Mean Squared Error (RMSE):</a:t>
            </a:r>
          </a:p>
          <a:p>
            <a:pPr>
              <a:spcAft>
                <a:spcPts val="400"/>
              </a:spcAft>
              <a:defRPr sz="1000">
                <a:solidFill>
                  <a:srgbClr val="2563EB"/>
                </a:solidFill>
              </a:defRPr>
            </a:pPr>
            <a:r>
              <a:t>  5.55 kWh (Penalizes larger excursions)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Mean Squared Error (MSE):</a:t>
            </a:r>
          </a:p>
          <a:p>
            <a:pPr>
              <a:spcAft>
                <a:spcPts val="400"/>
              </a:spcAft>
              <a:defRPr sz="1000">
                <a:solidFill>
                  <a:srgbClr val="2563EB"/>
                </a:solidFill>
              </a:defRPr>
            </a:pPr>
            <a:r>
              <a:t>  30.78 kWh²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• R² Score (-0.9736):</a:t>
            </a:r>
          </a:p>
          <a:p>
            <a:pPr>
              <a:spcAft>
                <a:spcPts val="400"/>
              </a:spcAft>
              <a:defRPr sz="1000">
                <a:solidFill>
                  <a:srgbClr val="2563EB"/>
                </a:solidFill>
              </a:defRPr>
            </a:pPr>
            <a:r>
              <a:t>  Accurately discloses that linear drift captures general trend but not weather seasonality.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CODEVEDX AI/ML INTERNSHIP — TASK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Console Interface: 8-Item Menu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1. View Records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Inspect historical dataset with flexible filtering: View recent 10 records, oldest 10, or full aligned 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2. Add Record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Prompt for date (YYYY-MM-DD) and usage (kWh); verifies formatting and blocks duplicate 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52120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3. Update Record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Locate existing observation, display current consumption, provide default prompt, and confirm in-place modification.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606040"/>
            <a:ext cx="52120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4. View Statistics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Calculate and present total kWh, daily average, extremes, and trailing 7-day usage with conceptual explanations.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120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5. Train ML Model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Prompt for chronological split ratio (e.g. 0.2), fit LinearRegression, report MAE/RMSE, and persist to joblib.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2120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6. Predict Future Usage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Accept future date, derive day index, compute forecast kWh, warn against model staleness, and issue uncertainty notice.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52120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7. View Model Info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Inspect trained model metadata, reference anchor date, formula coefficients, and historical evaluation metrics.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5074920"/>
            <a:ext cx="5212080" cy="1097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64592"/>
          <a:lstStyle/>
          <a:p>
            <a:pPr algn="ctr">
              <a:spcAft>
                <a:spcPts val="200"/>
              </a:spcAft>
              <a:defRPr sz="1200" b="1">
                <a:solidFill>
                  <a:srgbClr val="2563EB"/>
                </a:solidFill>
              </a:defRPr>
            </a:pPr>
            <a:r>
              <a:t>8. Exit Application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Gracefully terminate the application lifecycle with an informative farewell message and clean exit code 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CODEVEDX AI/ML INTERNSHIP — TASK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Defensive Exception Handling &amp; Crash Immunity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250" b="1">
                <a:solidFill>
                  <a:srgbClr val="2563EB"/>
                </a:solidFill>
              </a:defRPr>
            </a:pPr>
            <a:r>
              <a:t>🛡️  Invalid Menu Choices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Letters, symbols, or out-of-range numbers display clear guidance and immediately re-render menu without crashing.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250" b="1">
                <a:solidFill>
                  <a:srgbClr val="2563EB"/>
                </a:solidFill>
              </a:defRPr>
            </a:pPr>
            <a:r>
              <a:t>🚫  Non-Numeric / Negative Input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String entries ('abc'), negative numbers ('-5.0'), NaN, and Infinity are trapped before reaching calculations.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250" b="1">
                <a:solidFill>
                  <a:srgbClr val="2563EB"/>
                </a:solidFill>
              </a:defRPr>
            </a:pPr>
            <a:r>
              <a:t>📅  Malformed Calendar Dates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Invalid formats ('15-05-2025') and impossible calendar days ('2023-02-29') are reprompted with clear syntax cues.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250" b="1">
                <a:solidFill>
                  <a:srgbClr val="2563EB"/>
                </a:solidFill>
              </a:defRPr>
            </a:pPr>
            <a:r>
              <a:t>🔄  Model Staleness Alert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Option 6 hashes active CSV records and compares against training metadata, alerting users if data changed.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84048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250" b="1">
                <a:solidFill>
                  <a:srgbClr val="2563EB"/>
                </a:solidFill>
              </a:defRPr>
            </a:pPr>
            <a:r>
              <a:t>📁  Missing / Corrupted CSV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Startup checks detect absent or damaged files and offer safe re-initialization with clean synthetic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840480"/>
            <a:ext cx="338328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Aft>
                <a:spcPts val="600"/>
              </a:spcAft>
              <a:defRPr sz="1250" b="1">
                <a:solidFill>
                  <a:srgbClr val="2563EB"/>
                </a:solidFill>
              </a:defRPr>
            </a:pPr>
            <a:r>
              <a:t>⚡  Ctrl+C / EOF Intercepts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KeyboardInterrupt and EOFError signals are intercepted cleanly, preventing ugly stack traces.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577840"/>
            <a:ext cx="10698480" cy="7772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9728" lIns="274320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Zero Crash Guarantee: Normal user errors and malformed inputs never produce uncaught tracebacks or crash the console loop.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CODEVEDX AI/ML INTERNSHIP — TASK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Testing &amp; Verification: 74 Passed Automated Tests</a:t>
            </a:r>
          </a:p>
        </p:txBody>
      </p:sp>
      <p:pic>
        <p:nvPicPr>
          <p:cNvPr id="4" name="Picture 3" descr="fig4_tes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583680" cy="32918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589520" y="1371600"/>
            <a:ext cx="38404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000"/>
              </a:spcAft>
              <a:defRPr sz="1500" b="1">
                <a:solidFill>
                  <a:srgbClr val="16A34A"/>
                </a:solidFill>
              </a:defRPr>
            </a:pPr>
            <a:r>
              <a:t>Pytest Verification Harness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✔ test_data_manager.py (29 tests)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Validates ISO dates, calendar leaps, numeric bounds, overwrite guards, duplicate filtering, and CSV recovery.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✔ test_predictor.py (18 tests)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Verifies chronological splitting, OLS fitting, MAE/RMSE calculations, joblib I/O, staleness, and missing model recovery.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✔ test_utils.py (13 tests)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Tests NumPy/Pandas math statistics, Total vs Daily kWh explanations, and safe prompt validators.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✔ test_cli_smoke.py (8 tests)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Exercises full end-to-end CLI workflows: synthetic generation, training, statistics, and prediction.</a:t>
            </a:r>
          </a:p>
          <a:p>
            <a:pPr>
              <a:defRPr b="1" sz="1000">
                <a:solidFill>
                  <a:srgbClr val="0F172A"/>
                </a:solidFill>
              </a:defRPr>
            </a:pPr>
            <a:r>
              <a:t>✔ test_main.py (6 tests)</a:t>
            </a:r>
          </a:p>
          <a:p>
            <a:pPr>
              <a:spcAft>
                <a:spcPts val="600"/>
              </a:spcAft>
              <a:defRPr sz="950">
                <a:solidFill>
                  <a:srgbClr val="64748B"/>
                </a:solidFill>
              </a:defRPr>
            </a:pPr>
            <a:r>
              <a:t>  Tests interactive dispatch loop, blank choices, invalid choices, and graceful exits.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CODEVEDX AI/ML INTERNSHIP — TASK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Limitations, Future Scope &amp; Project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Honest Limitations &amp; Future Roadmap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Linear Baseline Limitation: 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  OLS regression models macro drift over time but cannot capture seasonal HVAC spikes or intra-week day variations.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ARIMA / Prophet Integration: 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  Future versions can incorporate SARIMA or Prophet to model cyclical annual seasonality and weekly autocorrelation.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External Feature Enrichment: 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  Incorporate heating/cooling degree days (HDD/CDD), local temperature logs, and utility tariff rate schedules.</a:t>
            </a:r>
          </a:p>
          <a:p>
            <a:pPr>
              <a:defRPr b="1" sz="1050">
                <a:solidFill>
                  <a:srgbClr val="0F172A"/>
                </a:solidFill>
              </a:defRPr>
            </a:pPr>
            <a:r>
              <a:t>• Multi-Utility Support: 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  Extend data schema to forecast multi-utility metrics: natural gas (therms), water (gallons), and solar net-metering.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200"/>
              </a:spcAft>
              <a:defRPr sz="1600" b="1">
                <a:solidFill>
                  <a:srgbClr val="60A5FA"/>
                </a:solidFill>
              </a:defRPr>
            </a:pPr>
            <a:r>
              <a:t>Final Internship Conclusion</a:t>
            </a:r>
          </a:p>
          <a:p>
            <a:pPr>
              <a:defRPr b="1" sz="1100">
                <a:solidFill>
                  <a:srgbClr val="34D399"/>
                </a:solidFill>
              </a:defRPr>
            </a:pPr>
            <a:r>
              <a:t>✔ Complete Task Fulfillment: 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  Successfully designed, built, and validated every requirement of CODEVEDX Internship Task 1.</a:t>
            </a:r>
          </a:p>
          <a:p>
            <a:pPr>
              <a:defRPr b="1" sz="1100">
                <a:solidFill>
                  <a:srgbClr val="34D399"/>
                </a:solidFill>
              </a:defRPr>
            </a:pPr>
            <a:r>
              <a:t>✔ Rigorous Engineering: 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  Demonstrated production-grade Python: robust type hints, modular package separation, and defensive error handling.</a:t>
            </a:r>
          </a:p>
          <a:p>
            <a:pPr>
              <a:defRPr b="1" sz="1100">
                <a:solidFill>
                  <a:srgbClr val="34D399"/>
                </a:solidFill>
              </a:defRPr>
            </a:pPr>
            <a:r>
              <a:t>✔ Methodological Integrity: 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  Applied zero-leakage chronological train/test splitting and reported transparent model accuracy without fabrication.</a:t>
            </a:r>
          </a:p>
          <a:p>
            <a:pPr>
              <a:defRPr b="1" sz="1100">
                <a:solidFill>
                  <a:srgbClr val="34D399"/>
                </a:solidFill>
              </a:defRPr>
            </a:pPr>
            <a:r>
              <a:t>✔ Verification Audit: PASS: </a:t>
            </a:r>
          </a:p>
          <a:p>
            <a:pPr>
              <a:spcAft>
                <a:spcPts val="800"/>
              </a:spcAft>
              <a:defRPr sz="1050">
                <a:solidFill>
                  <a:srgbClr val="E2E8F0"/>
                </a:solidFill>
              </a:defRPr>
            </a:pPr>
            <a:r>
              <a:t>  100% of 74 automated pytest tests passing, zero outstanding defects, ready for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